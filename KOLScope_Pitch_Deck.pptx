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20"/>
  </p:normalViewPr>
  <p:slideViewPr>
    <p:cSldViewPr snapToGrid="0" snapToObjects="1">
      <p:cViewPr varScale="1">
        <p:scale>
          <a:sx n="114" d="100"/>
          <a:sy n="114" d="100"/>
        </p:scale>
        <p:origin x="37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914400"/>
            <a:ext cx="1920240" cy="1920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108960"/>
            <a:ext cx="11064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Inter"/>
              </a:rPr>
              <a:t>KOLScope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00AAFF"/>
                </a:solidFill>
                <a:latin typeface="Inter"/>
              </a:rPr>
              <a:t>Influencer intelligence for the next generation of marketing teams.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8463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Inter"/>
              </a:rPr>
              <a:t>Multi-platform KOL analytics · Sub-second lookups · Built for agencies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Founded by Busyra Oryza  ·  Proton Media Indonesia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00AAFF"/>
                </a:solidFill>
                <a:latin typeface="Inter"/>
              </a:rPr>
              <a:t>Pre-Seed Round  ·  $300K  ·  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36576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3200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KOLScope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Inter"/>
              </a:rPr>
              <a:t>by Proton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02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5486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00AAFF"/>
                </a:solidFill>
                <a:latin typeface="Inter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0AAFF"/>
                </a:solidFill>
                <a:latin typeface="Inter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Inter"/>
              </a:rPr>
              <a:t>KOL research is slow, expensive, and outdated before it ships.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77440"/>
            <a:ext cx="658368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1">
                <a:solidFill>
                  <a:srgbClr val="00AAFF"/>
                </a:solidFill>
                <a:latin typeface="Inter"/>
              </a:rPr>
              <a:t>▸  </a:t>
            </a:r>
            <a:r>
              <a:rPr sz="1500" b="0">
                <a:solidFill>
                  <a:srgbClr val="E2E8F0"/>
                </a:solidFill>
                <a:latin typeface="Inter"/>
              </a:rPr>
              <a:t>78% of marketers say finding the right KOL is their #1 challenge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1">
                <a:solidFill>
                  <a:srgbClr val="00AAFF"/>
                </a:solidFill>
                <a:latin typeface="Inter"/>
              </a:rPr>
              <a:t>▸  </a:t>
            </a:r>
            <a:r>
              <a:rPr sz="1500" b="0">
                <a:solidFill>
                  <a:srgbClr val="E2E8F0"/>
                </a:solidFill>
                <a:latin typeface="Inter"/>
              </a:rPr>
              <a:t>Manual research: 2-4 hours per creator, scattered across platforms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1">
                <a:solidFill>
                  <a:srgbClr val="00AAFF"/>
                </a:solidFill>
                <a:latin typeface="Inter"/>
              </a:rPr>
              <a:t>▸  </a:t>
            </a:r>
            <a:r>
              <a:rPr sz="1500" b="0">
                <a:solidFill>
                  <a:srgbClr val="E2E8F0"/>
                </a:solidFill>
                <a:latin typeface="Inter"/>
              </a:rPr>
              <a:t>Agency KOL reports cost $500-2,000 per profile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1">
                <a:solidFill>
                  <a:srgbClr val="00AAFF"/>
                </a:solidFill>
                <a:latin typeface="Inter"/>
              </a:rPr>
              <a:t>▸  </a:t>
            </a:r>
            <a:r>
              <a:rPr sz="1500" b="0">
                <a:solidFill>
                  <a:srgbClr val="E2E8F0"/>
                </a:solidFill>
                <a:latin typeface="Inter"/>
              </a:rPr>
              <a:t>Data is stale by the time the report reaches the client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1">
                <a:solidFill>
                  <a:srgbClr val="00AAFF"/>
                </a:solidFill>
                <a:latin typeface="Inter"/>
              </a:rPr>
              <a:t>▸  </a:t>
            </a:r>
            <a:r>
              <a:rPr sz="1500" b="0">
                <a:solidFill>
                  <a:srgbClr val="E2E8F0"/>
                </a:solidFill>
                <a:latin typeface="Inter"/>
              </a:rPr>
              <a:t>No way to benchmark against peers at scale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2377440"/>
            <a:ext cx="4114800" cy="118872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0" y="251460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0AAFF"/>
                </a:solidFill>
                <a:latin typeface="Inter"/>
              </a:rPr>
              <a:t>2-4 hrs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15468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per creator profile, manually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3657600"/>
            <a:ext cx="4114800" cy="118872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80960" y="379476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F59E0B"/>
                </a:solidFill>
                <a:latin typeface="Inter"/>
              </a:rPr>
              <a:t>$1,000+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43484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per agency KOL report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91440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585216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i="1">
                <a:solidFill>
                  <a:srgbClr val="E2E8F0"/>
                </a:solidFill>
                <a:latin typeface="Inter"/>
              </a:rPr>
              <a:t>KOL research is broken — slow, expensive, and outdated before it is delivered.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36576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3200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KOLScope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Inter"/>
              </a:rPr>
              <a:t>by Proton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03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5486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00AAFF"/>
                </a:solidFill>
                <a:latin typeface="Inter"/>
              </a:rP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0AAFF"/>
                </a:solidFill>
                <a:latin typeface="Inter"/>
              </a:rPr>
              <a:t>OUR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Inter"/>
              </a:rPr>
              <a:t>One URL. Ten seconds. Every KOL, benchmarked.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59436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1">
                <a:solidFill>
                  <a:srgbClr val="00AAFF"/>
                </a:solidFill>
                <a:latin typeface="Inter"/>
              </a:rPr>
              <a:t>▸  </a:t>
            </a:r>
            <a:r>
              <a:rPr sz="1500" b="0">
                <a:solidFill>
                  <a:srgbClr val="E2E8F0"/>
                </a:solidFill>
                <a:latin typeface="Inter"/>
              </a:rPr>
              <a:t>Paste a TikTok or Instagram URL → get full analytics in seconds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1">
                <a:solidFill>
                  <a:srgbClr val="00AAFF"/>
                </a:solidFill>
                <a:latin typeface="Inter"/>
              </a:rPr>
              <a:t>▸  </a:t>
            </a:r>
            <a:r>
              <a:rPr sz="1500" b="0">
                <a:solidFill>
                  <a:srgbClr val="E2E8F0"/>
                </a:solidFill>
                <a:latin typeface="Inter"/>
              </a:rPr>
              <a:t>Engagement rate, average views, recent post performance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1">
                <a:solidFill>
                  <a:srgbClr val="00AAFF"/>
                </a:solidFill>
                <a:latin typeface="Inter"/>
              </a:rPr>
              <a:t>▸  </a:t>
            </a:r>
            <a:r>
              <a:rPr sz="1500" b="0">
                <a:solidFill>
                  <a:srgbClr val="E2E8F0"/>
                </a:solidFill>
                <a:latin typeface="Inter"/>
              </a:rPr>
              <a:t>Multi-platform: TikTok + Instagram today, YouTube next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1">
                <a:solidFill>
                  <a:srgbClr val="00AAFF"/>
                </a:solidFill>
                <a:latin typeface="Inter"/>
              </a:rPr>
              <a:t>▸  </a:t>
            </a:r>
            <a:r>
              <a:rPr sz="1500" b="0">
                <a:solidFill>
                  <a:srgbClr val="E2E8F0"/>
                </a:solidFill>
                <a:latin typeface="Inter"/>
              </a:rPr>
              <a:t>3-month cache = consistent data, instant repeat lookups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1">
                <a:solidFill>
                  <a:srgbClr val="00AAFF"/>
                </a:solidFill>
                <a:latin typeface="Inter"/>
              </a:rPr>
              <a:t>▸  </a:t>
            </a:r>
            <a:r>
              <a:rPr sz="1500" b="0">
                <a:solidFill>
                  <a:srgbClr val="E2E8F0"/>
                </a:solidFill>
                <a:latin typeface="Inter"/>
              </a:rPr>
              <a:t>Discovery: browse every previously analyzed profile in one place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1">
                <a:solidFill>
                  <a:srgbClr val="00AAFF"/>
                </a:solidFill>
                <a:latin typeface="Inter"/>
              </a:rPr>
              <a:t>▸  </a:t>
            </a:r>
            <a:r>
              <a:rPr sz="1500" b="0">
                <a:solidFill>
                  <a:srgbClr val="E2E8F0"/>
                </a:solidFill>
                <a:latin typeface="Inter"/>
              </a:rPr>
              <a:t>Copy-to-clipboard for Sheets · CSV export · API access (Enterprise)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2468880"/>
            <a:ext cx="4754880" cy="64008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0" y="260604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00AAFF"/>
                </a:solidFill>
                <a:latin typeface="Inter"/>
              </a:rP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80" y="2542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Instant lookup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80" y="28163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&lt; 10 sec end-to-end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3127248"/>
            <a:ext cx="4754880" cy="64008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0" y="326440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3B82F6"/>
                </a:solidFill>
                <a:latin typeface="Inter"/>
              </a:rPr>
              <a:t>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80" y="32004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Multi-platform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80" y="34747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TikTok · Instagram · YouTube (soon)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0" y="3785616"/>
            <a:ext cx="4754880" cy="64008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0" y="3922776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10B981"/>
                </a:solidFill>
                <a:latin typeface="Inter"/>
              </a:rPr>
              <a:t>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80" y="385876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3-month cache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80" y="413308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Repeat lookups are instant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4443984"/>
            <a:ext cx="4754880" cy="64008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0" y="4581144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F59E0B"/>
                </a:solidFill>
                <a:latin typeface="Inter"/>
              </a:rPr>
              <a:t>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80" y="451713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Discovery 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80" y="4791456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Browse + filter all profiles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0" y="5102352"/>
            <a:ext cx="4754880" cy="64008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32320" y="523951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3B82F6"/>
                </a:solidFill>
                <a:latin typeface="Inter"/>
              </a:rPr>
              <a:t>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80" y="517550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Sheets-ready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54498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Copy &amp; CSV export built 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49440" y="5760720"/>
            <a:ext cx="4754880" cy="64008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32320" y="589788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00AAFF"/>
                </a:solidFill>
                <a:latin typeface="Inter"/>
              </a:rPr>
              <a:t>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80" y="583387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API access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80" y="610819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For enterprise workflows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852160"/>
            <a:ext cx="91440" cy="457200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7240" y="585216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i="1">
                <a:solidFill>
                  <a:srgbClr val="E2E8F0"/>
                </a:solidFill>
                <a:latin typeface="Inter"/>
              </a:rPr>
              <a:t>Best of all worlds: speed of software, depth of an agency, price of a tool.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36576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3200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KOLScope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Inter"/>
              </a:rPr>
              <a:t>by Proton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04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5486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00AAFF"/>
                </a:solidFill>
                <a:latin typeface="Inter"/>
              </a:rPr>
              <a:t>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0AAFF"/>
                </a:solidFill>
                <a:latin typeface="Inter"/>
              </a:rPr>
              <a:t>MARKET OPPORTUNITY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Inter"/>
              </a:rPr>
              <a:t>$48B industry with no dominant SaaS in Southeast Asia.</a:t>
            </a:r>
          </a:p>
        </p:txBody>
      </p:sp>
      <p:pic>
        <p:nvPicPr>
          <p:cNvPr id="10" name="Picture 9" descr="mar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0"/>
            <a:ext cx="6858000" cy="4023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0" y="20116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AAFF"/>
                </a:solidFill>
                <a:latin typeface="Inter"/>
              </a:rPr>
              <a:t>Bottom-up SAM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377440"/>
            <a:ext cx="4114800" cy="118872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25146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Inter"/>
              </a:rPr>
              <a:t>50,000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9718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marketing agencies in SEA + ANZ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3657600"/>
            <a:ext cx="4114800" cy="118872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37947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0B981"/>
                </a:solidFill>
                <a:latin typeface="Inter"/>
              </a:rPr>
              <a:t>$4,000/yr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519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avg tool spend per agency (bottom-up)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2920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0AAFF"/>
                </a:solidFill>
                <a:latin typeface="Inter"/>
              </a:rPr>
              <a:t>= $200M SAM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1792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Sources: Influencer Marketing Hub 2025 · Statista · internal estimates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36576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3200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KOLScope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Inter"/>
              </a:rPr>
              <a:t>by Proton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05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5486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00AAFF"/>
                </a:solidFill>
                <a:latin typeface="Inter"/>
              </a:rPr>
              <a:t>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0AAFF"/>
                </a:solidFill>
                <a:latin typeface="Inter"/>
              </a:rPr>
              <a:t>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Inter"/>
              </a:rPr>
              <a:t>Built, deployed, and working today — not a mockup.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0AAFF"/>
                </a:solidFill>
                <a:latin typeface="Inter"/>
              </a:rPr>
              <a:t>Live at kol-research.protonmedia.co.id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59436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1">
                <a:solidFill>
                  <a:srgbClr val="00AAFF"/>
                </a:solidFill>
                <a:latin typeface="Inter"/>
              </a:rPr>
              <a:t>▸  </a:t>
            </a:r>
            <a:r>
              <a:rPr sz="1300" b="0">
                <a:solidFill>
                  <a:srgbClr val="E2E8F0"/>
                </a:solidFill>
                <a:latin typeface="Inter"/>
              </a:rPr>
              <a:t>Single-URL lookup → 6 metric cards + recent content table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1">
                <a:solidFill>
                  <a:srgbClr val="00AAFF"/>
                </a:solidFill>
                <a:latin typeface="Inter"/>
              </a:rPr>
              <a:t>▸  </a:t>
            </a:r>
            <a:r>
              <a:rPr sz="1300" b="0">
                <a:solidFill>
                  <a:srgbClr val="E2E8F0"/>
                </a:solidFill>
                <a:latin typeface="Inter"/>
              </a:rPr>
              <a:t>Discovery view with search, filter, sort, pagination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1">
                <a:solidFill>
                  <a:srgbClr val="00AAFF"/>
                </a:solidFill>
                <a:latin typeface="Inter"/>
              </a:rPr>
              <a:t>▸  </a:t>
            </a:r>
            <a:r>
              <a:rPr sz="1300" b="0">
                <a:solidFill>
                  <a:srgbClr val="E2E8F0"/>
                </a:solidFill>
                <a:latin typeface="Inter"/>
              </a:rPr>
              <a:t>CSV export · Copy-to-clipboard for Google Sheets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1">
                <a:solidFill>
                  <a:srgbClr val="00AAFF"/>
                </a:solidFill>
                <a:latin typeface="Inter"/>
              </a:rPr>
              <a:t>▸  </a:t>
            </a:r>
            <a:r>
              <a:rPr sz="1300" b="0">
                <a:solidFill>
                  <a:srgbClr val="E2E8F0"/>
                </a:solidFill>
                <a:latin typeface="Inter"/>
              </a:rPr>
              <a:t>Multi-scraper fallback: Scrapfly primary, Apify backup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1">
                <a:solidFill>
                  <a:srgbClr val="00AAFF"/>
                </a:solidFill>
                <a:latin typeface="Inter"/>
              </a:rPr>
              <a:t>▸  </a:t>
            </a:r>
            <a:r>
              <a:rPr sz="1300" b="0">
                <a:solidFill>
                  <a:srgbClr val="E2E8F0"/>
                </a:solidFill>
                <a:latin typeface="Inter"/>
              </a:rPr>
              <a:t>Built on Vercel + Supabase Postgres (3-month cache)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1">
                <a:solidFill>
                  <a:srgbClr val="00AAFF"/>
                </a:solidFill>
                <a:latin typeface="Inter"/>
              </a:rPr>
              <a:t>▸  </a:t>
            </a:r>
            <a:r>
              <a:rPr sz="1300" b="0">
                <a:solidFill>
                  <a:srgbClr val="E2E8F0"/>
                </a:solidFill>
                <a:latin typeface="Inter"/>
              </a:rPr>
              <a:t>API-ready for enterprise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1945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0AAFF"/>
                </a:solidFill>
                <a:latin typeface="Inter"/>
              </a:rPr>
              <a:t>Tech stack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0" y="2788920"/>
            <a:ext cx="164592" cy="16459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69480" y="269748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Next.js 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6974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Frontend + API routes</a:t>
            </a:r>
          </a:p>
        </p:txBody>
      </p:sp>
      <p:sp>
        <p:nvSpPr>
          <p:cNvPr id="16" name="Oval 15"/>
          <p:cNvSpPr/>
          <p:nvPr/>
        </p:nvSpPr>
        <p:spPr>
          <a:xfrm>
            <a:off x="6949440" y="329184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69480" y="32004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Vercel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2004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Hosting + serverless</a:t>
            </a:r>
          </a:p>
        </p:txBody>
      </p:sp>
      <p:sp>
        <p:nvSpPr>
          <p:cNvPr id="19" name="Oval 18"/>
          <p:cNvSpPr/>
          <p:nvPr/>
        </p:nvSpPr>
        <p:spPr>
          <a:xfrm>
            <a:off x="6949440" y="3794760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69480" y="370332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Supabase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7033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Postgres + REST API</a:t>
            </a:r>
          </a:p>
        </p:txBody>
      </p:sp>
      <p:sp>
        <p:nvSpPr>
          <p:cNvPr id="22" name="Oval 21"/>
          <p:cNvSpPr/>
          <p:nvPr/>
        </p:nvSpPr>
        <p:spPr>
          <a:xfrm>
            <a:off x="6949440" y="4297680"/>
            <a:ext cx="164592" cy="164592"/>
          </a:xfrm>
          <a:prstGeom prst="ellipse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69480" y="420624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Scrapfly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42062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Primary scraper (XHR interception)</a:t>
            </a:r>
          </a:p>
        </p:txBody>
      </p:sp>
      <p:sp>
        <p:nvSpPr>
          <p:cNvPr id="25" name="Oval 24"/>
          <p:cNvSpPr/>
          <p:nvPr/>
        </p:nvSpPr>
        <p:spPr>
          <a:xfrm>
            <a:off x="6949440" y="4800600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69480" y="470916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Apify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7091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Fallback scraper</a:t>
            </a:r>
          </a:p>
        </p:txBody>
      </p:sp>
      <p:sp>
        <p:nvSpPr>
          <p:cNvPr id="28" name="Oval 27"/>
          <p:cNvSpPr/>
          <p:nvPr/>
        </p:nvSpPr>
        <p:spPr>
          <a:xfrm>
            <a:off x="6949440" y="5303520"/>
            <a:ext cx="164592" cy="16459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269480" y="521208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TypeScript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52120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Type-safe end-to-end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852160"/>
            <a:ext cx="91440" cy="457200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7240" y="585216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i="1">
                <a:solidFill>
                  <a:srgbClr val="E2E8F0"/>
                </a:solidFill>
                <a:latin typeface="Inter"/>
              </a:rPr>
              <a:t>From zero to live in 30 days. Real users, real data, real product.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36576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3200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KOLScope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Inter"/>
              </a:rPr>
              <a:t>by Proton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06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5486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00AAFF"/>
                </a:solidFill>
                <a:latin typeface="Inter"/>
              </a:rPr>
              <a:t>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0AAFF"/>
                </a:solidFill>
                <a:latin typeface="Inter"/>
              </a:rPr>
              <a:t>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Inter"/>
              </a:rPr>
              <a:t>MVP launched June 2025. Building from a real client base.</a:t>
            </a:r>
          </a:p>
        </p:txBody>
      </p:sp>
      <p:pic>
        <p:nvPicPr>
          <p:cNvPr id="10" name="Picture 9" descr="tr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0"/>
            <a:ext cx="6858000" cy="3657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0" y="20116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0AAFF"/>
                </a:solidFill>
                <a:latin typeface="Inter"/>
              </a:rPr>
              <a:t>Milestones · Year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4688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688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MVP shipped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6974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June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9718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971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Live at custom domain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2004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kol-research.protonmedia.co.id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34747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4747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Internal adoption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7033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Proton Media team daily 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39776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59E0B"/>
                </a:solidFill>
                <a:latin typeface="Inter"/>
              </a:rPr>
              <a:t>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9776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3 design partners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2062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LOIs in progress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4805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94A3B8"/>
                </a:solidFill>
                <a:latin typeface="Inter"/>
              </a:rPr>
              <a:t>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4805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Public launch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7091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Q3 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9834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94A3B8"/>
                </a:solidFill>
                <a:latin typeface="Inter"/>
              </a:rPr>
              <a:t>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49834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200 paid customers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52120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Q4 2026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852160"/>
            <a:ext cx="3566160" cy="64008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594360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0AAFF"/>
                </a:solidFill>
                <a:latin typeface="Inter"/>
              </a:rPr>
              <a:t>200+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59893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brand clients at Proton Media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5852160"/>
            <a:ext cx="3566160" cy="64008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80560" y="594360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Inter"/>
              </a:rPr>
              <a:t>&lt; $1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59893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monthly infra cost today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5852160"/>
            <a:ext cx="3566160" cy="64008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600" y="594360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59E0B"/>
                </a:solidFill>
                <a:latin typeface="Inter"/>
              </a:rPr>
              <a:t>3-month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59893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data cache (TTV)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36576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3200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KOLScope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Inter"/>
              </a:rPr>
              <a:t>by Proton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07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5486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00AAFF"/>
                </a:solidFill>
                <a:latin typeface="Inter"/>
              </a:rPr>
              <a:t>Business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0AAFF"/>
                </a:solidFill>
                <a:latin typeface="Inter"/>
              </a:rPr>
              <a:t>BUSINESS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Inter"/>
              </a:rPr>
              <a:t>Self-serve SaaS. Land with free, expand with teams.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1168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94A3B8"/>
                </a:solidFill>
                <a:latin typeface="Inter"/>
              </a:rPr>
              <a:t>Free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51760"/>
            <a:ext cx="2148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Inter"/>
              </a:rPr>
              <a:t>$0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46120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forever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611880"/>
            <a:ext cx="2148840" cy="635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749040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74904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Inter"/>
              </a:rPr>
              <a:t>10 lookups /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41648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041648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Inter"/>
              </a:rPr>
              <a:t>1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34256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334256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Inter"/>
              </a:rPr>
              <a:t>Public data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715000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Inter"/>
              </a:rPr>
              <a:t>Lead generation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201168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00AAFF"/>
          </a:solidFill>
          <a:ln w="25400">
            <a:solidFill>
              <a:srgbClr val="00A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383280" y="2011680"/>
            <a:ext cx="2697480" cy="320040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83280" y="2039112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0A0F1A"/>
                </a:solidFill>
                <a:latin typeface="Inter"/>
              </a:rPr>
              <a:t>MOST POPULAR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2468880"/>
            <a:ext cx="21488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dirty="0">
                <a:solidFill>
                  <a:schemeClr val="bg1"/>
                </a:solidFill>
                <a:latin typeface="Inter"/>
              </a:rPr>
              <a:t>Pro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2926080"/>
            <a:ext cx="2148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rgbClr val="FFFFFF"/>
                </a:solidFill>
                <a:latin typeface="Inter"/>
              </a:rPr>
              <a:t>$49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520440"/>
            <a:ext cx="21488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chemeClr val="bg1"/>
                </a:solidFill>
                <a:latin typeface="Inter"/>
              </a:rPr>
              <a:t>per month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0" y="3886200"/>
            <a:ext cx="2148840" cy="635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0" y="4023360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4023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Inter"/>
              </a:rPr>
              <a:t>200 lookups / month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315968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4315968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Inter"/>
              </a:rPr>
              <a:t>TikTok + Instagram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4608576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4608576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Inter"/>
              </a:rPr>
              <a:t>CSV export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4901184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4901184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Inter"/>
              </a:rPr>
              <a:t>Discovery 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5193792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5193792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Inter"/>
              </a:rPr>
              <a:t>Email support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5715000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00AAFF"/>
                </a:solidFill>
                <a:latin typeface="Inter"/>
              </a:rPr>
              <a:t>Solo marketers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201168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92240" y="219456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3B82F6"/>
                </a:solidFill>
                <a:latin typeface="Inter"/>
              </a:rPr>
              <a:t>Agency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2651760"/>
            <a:ext cx="2148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Inter"/>
              </a:rPr>
              <a:t>$199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246120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per month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92240" y="3611880"/>
            <a:ext cx="2148840" cy="635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92240" y="3749040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374904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Inter"/>
              </a:rPr>
              <a:t>Unlimited lookups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4041648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4041648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Inter"/>
              </a:rPr>
              <a:t>5 team seats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4334256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0" y="4334256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Inter"/>
              </a:rPr>
              <a:t>Bulk export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4626864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75120" y="4626864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Inter"/>
              </a:rPr>
              <a:t>Sheets integration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4919472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0" y="4919472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Inter"/>
              </a:rPr>
              <a:t>Priority support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92240" y="5715000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B82F6"/>
                </a:solidFill>
                <a:latin typeface="Inter"/>
              </a:rPr>
              <a:t>Target segment · 60% of revenue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052560" y="201168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326880" y="219456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Inter"/>
              </a:rPr>
              <a:t>Enterprise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6880" y="2651760"/>
            <a:ext cx="2148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Inter"/>
              </a:rPr>
              <a:t>$999+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26880" y="3246120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per month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326880" y="3611880"/>
            <a:ext cx="2148840" cy="635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326880" y="3749040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09760" y="374904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Inter"/>
              </a:rPr>
              <a:t>API access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26880" y="4041648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09760" y="4041648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Inter"/>
              </a:rPr>
              <a:t>White-label option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26880" y="4334256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09760" y="4334256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Inter"/>
              </a:rPr>
              <a:t>Unlimited seats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26880" y="4626864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09760" y="4626864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Inter"/>
              </a:rPr>
              <a:t>SLA + onboarding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26880" y="4919472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509760" y="4919472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Inter"/>
              </a:rPr>
              <a:t>Custom scrapers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26880" y="5715000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10B981"/>
                </a:solidFill>
                <a:latin typeface="Inter"/>
              </a:rPr>
              <a:t>High-margin · 10% of revenue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Inter"/>
              </a:rPr>
              <a:t>Target mix Y3: 30% Pro · 60% Agency · 10% Enterprise  ·  Gross margin: 75% (API costs scale with usage)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36576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3200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KOLScope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Inter"/>
              </a:rPr>
              <a:t>by Proton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08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5486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00AAFF"/>
                </a:solidFill>
                <a:latin typeface="Inter"/>
              </a:rPr>
              <a:t>Competition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0AAFF"/>
                </a:solidFill>
                <a:latin typeface="Inter"/>
              </a:rPr>
              <a:t>COMPETITIVE LANDSCAPE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Inter"/>
              </a:rPr>
              <a:t>Faster than agencies, cheaper than incumbents, multi-platform from day one.</a:t>
            </a:r>
          </a:p>
        </p:txBody>
      </p:sp>
      <p:pic>
        <p:nvPicPr>
          <p:cNvPr id="10" name="Picture 9" descr="compet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20240"/>
            <a:ext cx="6858000" cy="457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0" y="192024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0AAFF"/>
                </a:solidFill>
                <a:latin typeface="Inter"/>
              </a:rPr>
              <a:t>Our unfair advantages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377440"/>
            <a:ext cx="4114800" cy="68580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24505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Multi-platform from day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74320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TikTok + Instagram; YouTube next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3154680"/>
            <a:ext cx="4114800" cy="68580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322783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Built by a working agency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52044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Real client needs drive the roadmap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3931920"/>
            <a:ext cx="4114800" cy="68580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63840" y="400507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SEA market expertise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29768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Proton Media already serves 200+ brands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4709160"/>
            <a:ext cx="4114800" cy="68580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63840" y="478231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Cost structure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07492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Self-serve SaaS, no analyst labor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5486400"/>
            <a:ext cx="4114800" cy="68580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63840" y="555955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Speed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585216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API-driven, not human-driven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36576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3200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KOLScope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Inter"/>
              </a:rPr>
              <a:t>by Proton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09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5486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00AAFF"/>
                </a:solidFill>
                <a:latin typeface="Inter"/>
              </a:rP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0AAFF"/>
                </a:solidFill>
                <a:latin typeface="Inter"/>
              </a:rPr>
              <a:t>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Inter"/>
              </a:rPr>
              <a:t>Domain expertise, distribution, and product velocity.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0312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14400" y="2377440"/>
            <a:ext cx="1280160" cy="12801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758812"/>
            <a:ext cx="1280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dirty="0">
                <a:solidFill>
                  <a:srgbClr val="FFFFFF"/>
                </a:solidFill>
                <a:latin typeface="Inter"/>
              </a:rPr>
              <a:t>BO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3774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Inter"/>
              </a:rPr>
              <a:t>Busyra Oryza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7889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AAFF"/>
                </a:solidFill>
                <a:latin typeface="Inter"/>
              </a:rPr>
              <a:t>Founder &amp; CEO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017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Proton Media Indonesia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31920"/>
            <a:ext cx="49377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Inter"/>
              </a:rPr>
              <a:t>• 5+ years in growth marketing &amp; KOL operations
• Built Proton Media into a 200+ client agency
• Direct line to Indonesia's top brands &amp; creators
• Hands-on builder: shipped KOLScope MVP solo in 30 days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103120"/>
            <a:ext cx="5212080" cy="192024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22402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0AAFF"/>
                </a:solidFill>
                <a:latin typeface="Inter"/>
              </a:rPr>
              <a:t>Next hires (with $300K raise)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697480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  <a:latin typeface="Inter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269748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Senior Full-Stack Engineer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89864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Next.js · Postgres · Scrapers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108960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  <a:latin typeface="Inter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10896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Growth Marketer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331012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Content · SEO · Paid acquisition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520440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  <a:latin typeface="Inter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352044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Account Executive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372160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Enterprise sales · SEA + ANZ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206240"/>
            <a:ext cx="5212080" cy="201168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75120" y="43434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0AAFF"/>
                </a:solidFill>
                <a:latin typeface="Inter"/>
              </a:rPr>
              <a:t>Advisors (in formation)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754880"/>
            <a:ext cx="49377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Target: 2-3 advisors with:
• Ex-HypeAuditor / Modash / creator-economy founder
• SEA VC partner with KOL/marketing portfolio
• Senior eng leader from scraper/data infrastructure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400800"/>
            <a:ext cx="91440" cy="457200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7240" y="640080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i="1">
                <a:solidFill>
                  <a:srgbClr val="E2E8F0"/>
                </a:solidFill>
                <a:latin typeface="Inter"/>
              </a:rPr>
              <a:t>We are not just building a tool — we are building it for the market we already serve.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36576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3200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KOLScope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Inter"/>
              </a:rPr>
              <a:t>by Proton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10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5486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00AAFF"/>
                </a:solidFill>
                <a:latin typeface="Inter"/>
              </a:rPr>
              <a:t>Financials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0AAFF"/>
                </a:solidFill>
                <a:latin typeface="Inter"/>
              </a:rPr>
              <a:t>FINANCIALS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Inter"/>
              </a:rPr>
              <a:t>Path to $1.2M ARR by Year 3 with 75% gross margin.</a:t>
            </a:r>
          </a:p>
        </p:txBody>
      </p:sp>
      <p:pic>
        <p:nvPicPr>
          <p:cNvPr id="10" name="Picture 9" descr="financi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0"/>
            <a:ext cx="6858000" cy="4023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0" y="20116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0AAFF"/>
                </a:solidFill>
                <a:latin typeface="Inter"/>
              </a:rPr>
              <a:t>Key assumptions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4688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Inter"/>
              </a:rPr>
              <a:t>Pricing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246888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Inter"/>
              </a:rPr>
              <a:t>$49 Pro · $199 Agency · $999+ Enterprise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88036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Inter"/>
              </a:rPr>
              <a:t>Conversion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88036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Inter"/>
              </a:rPr>
              <a:t>8% free → paid (industry avg)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32918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Inter"/>
              </a:rPr>
              <a:t>Gross margin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329184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Inter"/>
              </a:rPr>
              <a:t>75% (API costs scale linearly)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370332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Inter"/>
              </a:rPr>
              <a:t>Churn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37033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Inter"/>
              </a:rPr>
              <a:t>&lt; 5% monthly (sticky workflow tool)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11480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Inter"/>
              </a:rPr>
              <a:t>Team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411480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Inter"/>
              </a:rPr>
              <a:t>$25K/mo fully loaded at 4 FTE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45262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Inter"/>
              </a:rPr>
              <a:t>Runway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452628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Inter"/>
              </a:rPr>
              <a:t>18 months on $300K raise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Inter"/>
              </a:rPr>
              <a:t>Unit economics: $99 blended ARPU · $25 CAC · 4-month payback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36576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3200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KOLScope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Inter"/>
              </a:rPr>
              <a:t>by Proton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11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5486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00AAFF"/>
                </a:solidFill>
                <a:latin typeface="Inter"/>
              </a:rPr>
              <a:t>Use of Funds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0AAFF"/>
                </a:solidFill>
                <a:latin typeface="Inter"/>
              </a:rPr>
              <a:t>USE OF FUNDS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Inter"/>
              </a:rPr>
              <a:t>Funded to hit $300K ARR, 200 customers, and Series A metrics.</a:t>
            </a:r>
          </a:p>
        </p:txBody>
      </p:sp>
      <p:pic>
        <p:nvPicPr>
          <p:cNvPr id="10" name="Picture 9" descr="useoffu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920240"/>
            <a:ext cx="594360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75120" y="19202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0AAFF"/>
                </a:solidFill>
                <a:latin typeface="Inter"/>
              </a:rPr>
              <a:t>$300K · 18-month runway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2468880"/>
            <a:ext cx="5029200" cy="59436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858000" y="2651760"/>
            <a:ext cx="228600" cy="2286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25146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Product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76148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2 senior engineers · 18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25146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>
                <a:solidFill>
                  <a:srgbClr val="3B82F6"/>
                </a:solidFill>
                <a:latin typeface="Inter"/>
              </a:rPr>
              <a:t>$120K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76148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Inter"/>
              </a:rPr>
              <a:t>40%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3154680"/>
            <a:ext cx="5029200" cy="59436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858000" y="3337560"/>
            <a:ext cx="228600" cy="228600"/>
          </a:xfrm>
          <a:prstGeom prst="ellipse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78040" y="32004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Go-to-Market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4728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Growth marketer · content · paid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2004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>
                <a:solidFill>
                  <a:srgbClr val="00AAFF"/>
                </a:solidFill>
                <a:latin typeface="Inter"/>
              </a:rPr>
              <a:t>$75K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344728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Inter"/>
              </a:rPr>
              <a:t>25%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3840480"/>
            <a:ext cx="5029200" cy="59436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858000" y="4023360"/>
            <a:ext cx="228600" cy="228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78040" y="38862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Sales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413308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1 AE for enterprise accounts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8862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>
                <a:solidFill>
                  <a:srgbClr val="10B981"/>
                </a:solidFill>
                <a:latin typeface="Inter"/>
              </a:rPr>
              <a:t>$45K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413308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Inter"/>
              </a:rPr>
              <a:t>15%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4526280"/>
            <a:ext cx="5029200" cy="59436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858000" y="4709160"/>
            <a:ext cx="228600" cy="2286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78040" y="45720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Infrastructure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481888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API costs · hosting · tools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45720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>
                <a:solidFill>
                  <a:srgbClr val="F59E0B"/>
                </a:solidFill>
                <a:latin typeface="Inter"/>
              </a:rPr>
              <a:t>$30K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481888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Inter"/>
              </a:rPr>
              <a:t>10%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5120" y="5212080"/>
            <a:ext cx="5029200" cy="59436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858000" y="5394960"/>
            <a:ext cx="228600" cy="2286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78040" y="52578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Reserve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78040" y="550468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3-month contingency buffer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52578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>
                <a:solidFill>
                  <a:srgbClr val="94A3B8"/>
                </a:solidFill>
                <a:latin typeface="Inter"/>
              </a:rPr>
              <a:t>$30K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550468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Inter"/>
              </a:rPr>
              <a:t>10%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Inter"/>
              </a:rPr>
              <a:t>Milestones: 200 paying customers · $300K ARR · 3 platforms · 4-person team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36576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3200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KOLScope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Inter"/>
              </a:rPr>
              <a:t>by Proton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12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5486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00AAFF"/>
                </a:solidFill>
                <a:latin typeface="Inter"/>
              </a:rPr>
              <a:t>The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0AAFF"/>
                </a:solidFill>
                <a:latin typeface="Inter"/>
              </a:rPr>
              <a:t>THE 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10642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400" b="1">
                <a:solidFill>
                  <a:srgbClr val="00AAFF"/>
                </a:solidFill>
                <a:latin typeface="Inter"/>
              </a:rPr>
              <a:t>$300,000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0604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94A3B8"/>
                </a:solidFill>
                <a:latin typeface="Inter"/>
              </a:rPr>
              <a:t>pre-seed · SAFE or priced · 18-month runway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47472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6118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  <a:latin typeface="Inter"/>
              </a:rPr>
              <a:t>Q2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77639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Inter"/>
              </a:rPr>
              <a:t>MVP+ 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34840"/>
            <a:ext cx="3200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TikTok + Instagram · 50 beta users · 3 design partners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347472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 w="19050">
            <a:solidFill>
              <a:srgbClr val="00A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09160" y="36118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AAFF"/>
                </a:solidFill>
                <a:latin typeface="Inter"/>
              </a:rPr>
              <a:t>Q4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977639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Inter"/>
              </a:rPr>
              <a:t>Product-market 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4434840"/>
            <a:ext cx="3200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200 paying customers · $300K ARR · 5+ NPS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347472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0" y="36118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Inter"/>
              </a:rPr>
              <a:t>Q2 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977639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Inter"/>
              </a:rPr>
              <a:t>Series A ready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4434840"/>
            <a:ext cx="3200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$1M ARR run-rate · 3 platforms · 4-person team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943600"/>
            <a:ext cx="91440" cy="457200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594360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i="1">
                <a:solidFill>
                  <a:srgbClr val="E2E8F0"/>
                </a:solidFill>
                <a:latin typeface="Inter"/>
              </a:rPr>
              <a:t>Join us in building the dominant KOL intelligence platform in Southeast Asia.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36576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3200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KOLScope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Inter"/>
              </a:rPr>
              <a:t>by Proton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13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5486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00AAFF"/>
                </a:solidFill>
                <a:latin typeface="Inter"/>
              </a:rPr>
              <a:t>Appendix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0AAFF"/>
                </a:solidFill>
                <a:latin typeface="Inter"/>
              </a:rPr>
              <a:t>APPENDIX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Inter"/>
              </a:rPr>
              <a:t>Additional context, technical details, and references.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03120"/>
            <a:ext cx="2743200" cy="384048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AAFF"/>
                </a:solidFill>
                <a:latin typeface="Inter"/>
              </a:rPr>
              <a:t>Customer testimonials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06040"/>
            <a:ext cx="365760" cy="19050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78892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Inter"/>
              </a:rPr>
              <a:t>• (3 design-partner quotes — to be filled in after Q3 beta)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3756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Inter"/>
              </a:rPr>
              <a:t>• 5+ agency case studies planned for Y1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8620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Inter"/>
              </a:rPr>
              <a:t>• Net Promoter Score target: &gt;40 by Q4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2103120"/>
            <a:ext cx="2743200" cy="384048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0" y="224028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AAFF"/>
                </a:solidFill>
                <a:latin typeface="Inter"/>
              </a:rPr>
              <a:t>Technical architecture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2606040"/>
            <a:ext cx="365760" cy="19050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0" y="278892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Inter"/>
              </a:rPr>
              <a:t>• Next.js 16 + TypeScript on Vercel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3756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Inter"/>
              </a:rPr>
              <a:t>• Supabase Postgres for profile cache + content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88620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Inter"/>
              </a:rPr>
              <a:t>• Scrapfly XHR interception for TikTok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43484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Inter"/>
              </a:rPr>
              <a:t>• Apify fallback for rate-limit recovery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98348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Inter"/>
              </a:rPr>
              <a:t>• 3-month TTL cache, ~75% hit rate at scale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103120"/>
            <a:ext cx="2743200" cy="384048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224028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AAFF"/>
                </a:solidFill>
                <a:latin typeface="Inter"/>
              </a:rPr>
              <a:t>Pricing comparison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2606040"/>
            <a:ext cx="365760" cy="19050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278892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Inter"/>
              </a:rPr>
              <a:t>• HypeAuditor: $168/mo single 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33756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Inter"/>
              </a:rPr>
              <a:t>• Modash: $99/mo creator 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88620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Inter"/>
              </a:rPr>
              <a:t>• Phlanx: free tier, $39 ER-only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43484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Inter"/>
              </a:rPr>
              <a:t>• KOLScope Pro: $49/mo multi-platform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98348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Inter"/>
              </a:rPr>
              <a:t>• KOLScope Agency: $199 vs $400+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0" y="2103120"/>
            <a:ext cx="2743200" cy="384048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09760" y="224028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AAFF"/>
                </a:solidFill>
                <a:latin typeface="Inter"/>
              </a:rPr>
              <a:t>Data sources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09760" y="2606040"/>
            <a:ext cx="365760" cy="19050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509760" y="278892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Inter"/>
              </a:rPr>
              <a:t>• Influencer Marketing Hub 2025 report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333756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Inter"/>
              </a:rPr>
              <a:t>• Statista Influencer Marketing Forecast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0" y="388620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Inter"/>
              </a:rPr>
              <a:t>• HubSpot State of Marketing 2024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9760" y="443484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Inter"/>
              </a:rPr>
              <a:t>• eMarketer SEA Digital Ad Spend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60" y="498348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Inter"/>
              </a:rPr>
              <a:t>• Internal Proton Media client 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Inter"/>
              </a:rPr>
              <a:t>Contact: busyra@protonmedia.co.id  ·  kol-research.protonmedia.co.id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1436</Words>
  <Application>Microsoft Macintosh PowerPoint</Application>
  <PresentationFormat>Widescreen</PresentationFormat>
  <Paragraphs>318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Busyra Oryza</cp:lastModifiedBy>
  <cp:revision>2</cp:revision>
  <dcterms:created xsi:type="dcterms:W3CDTF">2013-01-27T09:14:16Z</dcterms:created>
  <dcterms:modified xsi:type="dcterms:W3CDTF">2026-06-05T00:34:21Z</dcterms:modified>
  <cp:category/>
</cp:coreProperties>
</file>